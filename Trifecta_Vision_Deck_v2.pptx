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411480"/>
            <a:ext cx="640080" cy="640080"/>
          </a:xfrm>
          <a:prstGeom prst="rect">
            <a:avLst/>
          </a:prstGeom>
          <a:solidFill>
            <a:srgbClr val="F5F3EB"/>
          </a:solidFill>
          <a:ln w="12700">
            <a:solidFill>
              <a:srgbClr val="F5F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TRIFECTA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23444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89888"/>
            <a:ext cx="6858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Invisible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of Staff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EO Boards.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7452360" y="1389888"/>
            <a:ext cx="36576" cy="2606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1232" y="182880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boards.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digest at a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429768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4434840"/>
            <a:ext cx="2103120" cy="347472"/>
          </a:xfrm>
          <a:prstGeom prst="rect">
            <a:avLst/>
          </a:prstGeom>
          <a:solidFill>
            <a:srgbClr val="1A1813"/>
          </a:solidFill>
          <a:ln w="9525">
            <a:solidFill>
              <a:srgbClr val="8C87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DALLAS  ·  PILOT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4434840"/>
            <a:ext cx="2103120" cy="347472"/>
          </a:xfrm>
          <a:prstGeom prst="rect">
            <a:avLst/>
          </a:prstGeom>
          <a:solidFill>
            <a:srgbClr val="1A1813"/>
          </a:solidFill>
          <a:ln w="9525">
            <a:solidFill>
              <a:srgbClr val="8C87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ENGINE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30368" y="4434840"/>
            <a:ext cx="2103120" cy="347472"/>
          </a:xfrm>
          <a:prstGeom prst="rect">
            <a:avLst/>
          </a:prstGeom>
          <a:solidFill>
            <a:srgbClr val="1A1813"/>
          </a:solidFill>
          <a:ln w="9525">
            <a:solidFill>
              <a:srgbClr val="8C87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50292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2179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product starts with a moment.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08760"/>
            <a:ext cx="8266176" cy="160020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508760"/>
            <a:ext cx="64008" cy="1600200"/>
          </a:xfrm>
          <a:prstGeom prst="rect">
            <a:avLst/>
          </a:prstGeom>
          <a:solidFill>
            <a:srgbClr val="F5F3EB"/>
          </a:solidFill>
          <a:ln w="12700">
            <a:solidFill>
              <a:srgbClr val="F5F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recruited Michael. He joined. He was engaged. Then he went quiet.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time I noticed, it was already too late to reverse course. He wasn’t renewing.”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Imran Karim, Membership Director, EO Dallas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356616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703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exists because that moment should never happen again.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4251960"/>
            <a:ext cx="2651760" cy="64008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Michael's engagement score: 18 / 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4251960"/>
            <a:ext cx="2651760" cy="64008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renewal when first flagged: 13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4251960"/>
            <a:ext cx="2651760" cy="64008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4251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with Trifecta: preventable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74320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 Boards Are Flying Blind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member data lives in 4 disconnected places. The board makes decisions by gut.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371600"/>
            <a:ext cx="1938528" cy="1828800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71600"/>
            <a:ext cx="1938528" cy="5486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HubSpot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39696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41448" y="1371600"/>
            <a:ext cx="1938528" cy="1828800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1371600"/>
            <a:ext cx="1938528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53619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69464" y="2011680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139696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 &amp;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tracking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1371600"/>
            <a:ext cx="1938528" cy="1828800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1371600"/>
            <a:ext cx="1938528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53619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39696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pulse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1371600"/>
            <a:ext cx="1938528" cy="1828800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371600"/>
            <a:ext cx="1938528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153619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 Global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74536" y="2011680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2139696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dues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8912" y="4462272"/>
            <a:ext cx="8266176" cy="47548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4462272"/>
            <a:ext cx="64008" cy="475488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62272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tools talk to each other. There is no single view of member health. The board reacts — it doesn't predict.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50292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2179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Reactive Leadership Looks Like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636776"/>
            <a:ext cx="402336" cy="402336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misses 3 events. Nobody connects the dots across HubSpot, forum records, and WhatsApp.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" y="2478024"/>
            <a:ext cx="402336" cy="402336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participation quietly drops. Only the Forum Director might notice — weeks later, if at 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" y="3319272"/>
            <a:ext cx="402336" cy="402336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826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board member picks up the phone, the member has already mentally left.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8912" y="425196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4370832"/>
            <a:ext cx="8266176" cy="475488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4370832"/>
            <a:ext cx="64008" cy="47548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70832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lagging indicator.  Trifecta turns it into a leading one.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50292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2179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Trifecta connects to every tool your chapter already uses, scores every member's engagement across all signals, and tells each board member exactly what to do — before it's too late.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8912" y="2304288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2468880"/>
            <a:ext cx="2578608" cy="1938528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468880"/>
            <a:ext cx="2578608" cy="45720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67004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" y="3054096"/>
            <a:ext cx="2249424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3182112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before churn happens.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at-risk members every week.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2468880"/>
            <a:ext cx="2578608" cy="1938528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468880"/>
            <a:ext cx="2578608" cy="45720"/>
          </a:xfrm>
          <a:prstGeom prst="rect">
            <a:avLst/>
          </a:prstGeom>
          <a:solidFill>
            <a:srgbClr val="7A5C14"/>
          </a:solidFill>
          <a:ln w="12700">
            <a:solidFill>
              <a:srgbClr val="7A5C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267004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9272" y="3054096"/>
            <a:ext cx="2249424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3182112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board seat gets a personalized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with relevant actions only.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70448" y="2468880"/>
            <a:ext cx="2578608" cy="1938528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2468880"/>
            <a:ext cx="2578608" cy="457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7004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054096"/>
            <a:ext cx="2249424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182112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existing tools.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 change required on day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74320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261872"/>
            <a:ext cx="1938528" cy="51206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Global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41448" y="1261872"/>
            <a:ext cx="1938528" cy="51206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12618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3984" y="1261872"/>
            <a:ext cx="1938528" cy="51206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12618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261872"/>
            <a:ext cx="1938528" cy="51206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618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1773936"/>
            <a:ext cx="73152" cy="18288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773936"/>
            <a:ext cx="73152" cy="18288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1773936"/>
            <a:ext cx="73152" cy="18288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9208" y="1773936"/>
            <a:ext cx="73152" cy="18288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956816"/>
            <a:ext cx="8266176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1993392"/>
            <a:ext cx="73152" cy="27432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1488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748"/>
                </a:solidFill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33472" y="2423160"/>
            <a:ext cx="3877056" cy="621792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423160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SCORING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3044952"/>
            <a:ext cx="73152" cy="274320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1821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748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3832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3657600"/>
            <a:ext cx="1938528" cy="56692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657600"/>
            <a:ext cx="54864" cy="56692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576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41448" y="3657600"/>
            <a:ext cx="1938528" cy="56692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41448" y="3657600"/>
            <a:ext cx="54864" cy="56692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36576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43984" y="3657600"/>
            <a:ext cx="1938528" cy="56692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3984" y="3657600"/>
            <a:ext cx="54864" cy="566928"/>
          </a:xfrm>
          <a:prstGeom prst="rect">
            <a:avLst/>
          </a:prstGeom>
          <a:solidFill>
            <a:srgbClr val="7A5C14"/>
          </a:solidFill>
          <a:ln w="12700">
            <a:solidFill>
              <a:srgbClr val="7A5C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36576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46520" y="3657600"/>
            <a:ext cx="1938528" cy="56692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657600"/>
            <a:ext cx="54864" cy="566928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6576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Queue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74320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Trifecta Measures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692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signals. One score. One ranked list of who needs attention.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389888"/>
            <a:ext cx="1938528" cy="288950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89888"/>
            <a:ext cx="1938528" cy="54864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72768"/>
            <a:ext cx="713232" cy="713232"/>
          </a:xfrm>
          <a:prstGeom prst="rect">
            <a:avLst/>
          </a:prstGeom>
          <a:solidFill>
            <a:srgbClr val="F5F3EB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0545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Forum Participation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99008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Attending, or Missing?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health is the earliest signal.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41448" y="1389888"/>
            <a:ext cx="1938528" cy="288950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1389888"/>
            <a:ext cx="1938528" cy="54864"/>
          </a:xfrm>
          <a:prstGeom prst="rect">
            <a:avLst/>
          </a:prstGeom>
          <a:solidFill>
            <a:srgbClr val="7A5C14"/>
          </a:solidFill>
          <a:ln w="12700">
            <a:solidFill>
              <a:srgbClr val="7A5C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1572768"/>
            <a:ext cx="713232" cy="713232"/>
          </a:xfrm>
          <a:prstGeom prst="rect">
            <a:avLst/>
          </a:prstGeom>
          <a:solidFill>
            <a:srgbClr val="F5F3EB"/>
          </a:solidFill>
          <a:ln w="9525">
            <a:solidFill>
              <a:srgbClr val="7A5C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08376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5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569464" y="2395728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250545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Attendance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9464" y="299008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Declining, or Absent?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over time, not single events.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43984" y="1389888"/>
            <a:ext cx="1938528" cy="288950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984" y="1389888"/>
            <a:ext cx="1938528" cy="5486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1572768"/>
            <a:ext cx="713232" cy="713232"/>
          </a:xfrm>
          <a:prstGeom prst="rect">
            <a:avLst/>
          </a:prstGeom>
          <a:solidFill>
            <a:srgbClr val="F5F3EB"/>
          </a:solidFill>
          <a:ln w="9525">
            <a:solidFill>
              <a:srgbClr val="8B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0" y="2395728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50545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Spouse / SLP Involvement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0" y="299008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indicator of full member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family buy-in.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1389888"/>
            <a:ext cx="1938528" cy="288950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1389888"/>
            <a:ext cx="1938528" cy="5486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3448" y="1572768"/>
            <a:ext cx="713232" cy="713232"/>
          </a:xfrm>
          <a:prstGeom prst="rect">
            <a:avLst/>
          </a:prstGeom>
          <a:solidFill>
            <a:srgbClr val="F5F3EB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3448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13448" y="1572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574536" y="2395728"/>
            <a:ext cx="1682496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250545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Activity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74536" y="299008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pulse — previously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any board.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8912" y="4462272"/>
            <a:ext cx="8266176" cy="457200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" y="4462272"/>
            <a:ext cx="64008" cy="45720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462272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10–20% surfaces automatically every week. Each board member knows exactly who to call.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82880"/>
            <a:ext cx="3108960" cy="274320"/>
          </a:xfrm>
          <a:prstGeom prst="rect">
            <a:avLst/>
          </a:prstGeom>
          <a:solidFill>
            <a:srgbClr val="ECEADE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82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TROJAN HORSE MVP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38912" y="566928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669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Algorithm. Change Nothing.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252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what exists. Surface who’s at risk. Let the board do what boards 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6420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66420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465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 sync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02996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+ Google Sheets + EO Global connected in the background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65776" y="166420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65776" y="166420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7465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scoring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202996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→ one ranked member health list, updated weekly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239572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39572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4780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At-risk member digest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27614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10–20% surfaced automatically with context per role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239572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239572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48656" y="24780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login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8656" y="27614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per board seat — each person sees relevant data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" y="312724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12724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2095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member access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349300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committee members per role; toggle digest frequency and login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65776" y="312724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65776" y="312724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32095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Cross-board to-do assignment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49300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assigns a task to any other; appears in their weekly digest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" y="385876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385876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9410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WhatsApp input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" y="422452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community sentiment signals until full WhatsApp API is live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65776" y="3858768"/>
            <a:ext cx="3931920" cy="658368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65776" y="3858768"/>
            <a:ext cx="54864" cy="65836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39410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tracking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422452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happened after each outreach — did we save the member?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74320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914400"/>
            <a:ext cx="3200400" cy="256032"/>
          </a:xfrm>
          <a:prstGeom prst="rect">
            <a:avLst/>
          </a:prstGeom>
          <a:solidFill>
            <a:srgbClr val="ECEADE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BOARD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225296"/>
            <a:ext cx="3931920" cy="352958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25296"/>
            <a:ext cx="3931920" cy="420624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2252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BOARD ROLE ASSISTANT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Board Role Assistant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" y="2304288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40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should I call this week?”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answered, every week.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2779776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163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digest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prioritised members and suggested actions.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255264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918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doc knowledge base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searchable by the AI assistant.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3730752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67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action → outcome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logged in one end-to-end flow.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4206240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24281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board seat, every week.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91456" y="914400"/>
            <a:ext cx="2743200" cy="256032"/>
          </a:xfrm>
          <a:prstGeom prst="rect">
            <a:avLst/>
          </a:prstGeom>
          <a:solidFill>
            <a:srgbClr val="ECEADE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THE PLATFORM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91456" y="1225296"/>
            <a:ext cx="3913632" cy="352958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1456" y="1225296"/>
            <a:ext cx="3913632" cy="420624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225296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EO CHAPTER CRM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4336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EO Chapter CRM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74336" y="2304288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2340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replacement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chapters not already invested in it.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74336" y="2779776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8163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for EO’s membership structure.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74336" y="3255264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32918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Global API integration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confirmed stakeholder priority.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74336" y="3730752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3767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Multi-chapter deployment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full chapter data isolation.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74336" y="4206240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424281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Global partnership path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acquisition opportunity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STRANGLER FIG STRATEGY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50292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2179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Trifecta Replaces HubSpot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72768"/>
            <a:ext cx="2578608" cy="274320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572768"/>
            <a:ext cx="2578608" cy="54864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18013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" y="2139696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9424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HubSpot. Pull in what it can’t see — WhatsApp, Sheets, forum data. Make HubSpot smarter by wrapping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3730752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8039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Dallas: This is Phase 1 &amp; 2. Lead with augmentation, not replacement.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572768"/>
            <a:ext cx="2578608" cy="274320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572768"/>
            <a:ext cx="2578608" cy="54864"/>
          </a:xfrm>
          <a:prstGeom prst="rect">
            <a:avLst/>
          </a:prstGeom>
          <a:solidFill>
            <a:srgbClr val="7A5C14"/>
          </a:solidFill>
          <a:ln w="12700">
            <a:solidFill>
              <a:srgbClr val="7A5C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18013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139696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249424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becomes the primary intelligence layer. HubSpot is just one of several data sources. Boards stop logging into HubSpot for insights.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730752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8039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happens naturally as Trifecta becomes the view boards actually use.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70448" y="1572768"/>
            <a:ext cx="2578608" cy="274320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1572768"/>
            <a:ext cx="2578608" cy="5486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19088" y="18013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07608" y="2139696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2249424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chapters not already invested in HubSpot, Trifecta IS the CRM. Native EO structure. Built around how chapters actually work.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07608" y="3730752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38039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rest of the EO network: the full replacement path is open from day one.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56032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Trifecta by Board Role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1417320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326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56816" y="932688"/>
            <a:ext cx="2926080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932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TODAY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74336" y="932688"/>
            <a:ext cx="2889504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93268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DOES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0" y="932688"/>
            <a:ext cx="896112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9326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1298448"/>
            <a:ext cx="141732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1298448"/>
            <a:ext cx="292608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1298448"/>
            <a:ext cx="2889504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298448"/>
            <a:ext cx="896112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1627632"/>
            <a:ext cx="1298448" cy="256032"/>
          </a:xfrm>
          <a:prstGeom prst="rect">
            <a:avLst/>
          </a:prstGeom>
          <a:solidFill>
            <a:srgbClr val="F5F3EB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PRESIDENT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1371600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view. Must aggregate from multiple people before every meeting. Operates on gut.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65776" y="137160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health summary + active risks + board action tracker. One view, always current.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1645920"/>
            <a:ext cx="822960" cy="274320"/>
          </a:xfrm>
          <a:prstGeom prst="rect">
            <a:avLst/>
          </a:prstGeom>
          <a:solidFill>
            <a:srgbClr val="F5F3EB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856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HRS/WK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2441448"/>
            <a:ext cx="1417320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" y="2441448"/>
            <a:ext cx="2926080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2441448"/>
            <a:ext cx="2889504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441448"/>
            <a:ext cx="896112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2770632"/>
            <a:ext cx="1298448" cy="256032"/>
          </a:xfrm>
          <a:prstGeom prst="rect">
            <a:avLst/>
          </a:prstGeom>
          <a:solidFill>
            <a:srgbClr val="ECEADE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2770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DIRECTOR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48256" y="2514600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review, no WhatsApp visibility, no forum signal. Reactive when already too late.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65776" y="251460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across all sources. At-risk list with suggested actions. Committee co-pilot.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91856" y="2788920"/>
            <a:ext cx="822960" cy="274320"/>
          </a:xfrm>
          <a:prstGeom prst="rect">
            <a:avLst/>
          </a:prstGeom>
          <a:solidFill>
            <a:srgbClr val="ECEADE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91856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HRS/WK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3584448"/>
            <a:ext cx="141732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56816" y="3584448"/>
            <a:ext cx="292608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3584448"/>
            <a:ext cx="2889504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584448"/>
            <a:ext cx="896112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" y="3913632"/>
            <a:ext cx="1298448" cy="256032"/>
          </a:xfrm>
          <a:prstGeom prst="rect">
            <a:avLst/>
          </a:prstGeom>
          <a:solidFill>
            <a:srgbClr val="F5F3EB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913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DIRECTOR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48256" y="3657600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health lives in memory. No cross-signal view. Drops are invisible until they’re not.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65776" y="365760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participation flagged as engagement signal. At-risk forum members surfaced weekly.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91856" y="3931920"/>
            <a:ext cx="822960" cy="274320"/>
          </a:xfrm>
          <a:prstGeom prst="rect">
            <a:avLst/>
          </a:prstGeom>
          <a:solidFill>
            <a:srgbClr val="F5F3EB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91856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56032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Trifecta by Board Role (cont’d)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1417320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326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56816" y="932688"/>
            <a:ext cx="2926080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932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TODAY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74336" y="932688"/>
            <a:ext cx="2889504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93268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DOES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0" y="932688"/>
            <a:ext cx="896112" cy="31089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9326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1298448"/>
            <a:ext cx="141732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1298448"/>
            <a:ext cx="2926080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1298448"/>
            <a:ext cx="2889504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298448"/>
            <a:ext cx="896112" cy="1078992"/>
          </a:xfrm>
          <a:prstGeom prst="rect">
            <a:avLst/>
          </a:prstGeom>
          <a:solidFill>
            <a:srgbClr val="F5F3EB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1627632"/>
            <a:ext cx="1298448" cy="256032"/>
          </a:xfrm>
          <a:prstGeom prst="rect">
            <a:avLst/>
          </a:prstGeom>
          <a:solidFill>
            <a:srgbClr val="F5F3EB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627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CHAIR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1371600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data in HubSpot but disconnected from member health. No pre-event member intelligence.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65776" y="137160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 as part of the health score. Pre-event flag: who hasn’t attended recently?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1645920"/>
            <a:ext cx="822960" cy="274320"/>
          </a:xfrm>
          <a:prstGeom prst="rect">
            <a:avLst/>
          </a:prstGeom>
          <a:solidFill>
            <a:srgbClr val="F5F3EB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856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HRS/WK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2441448"/>
            <a:ext cx="1417320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" y="2441448"/>
            <a:ext cx="2926080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2441448"/>
            <a:ext cx="2889504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441448"/>
            <a:ext cx="896112" cy="1078992"/>
          </a:xfrm>
          <a:prstGeom prst="rect">
            <a:avLst/>
          </a:prstGeom>
          <a:solidFill>
            <a:srgbClr val="ECEADE"/>
          </a:solidFill>
          <a:ln w="3810">
            <a:solidFill>
              <a:srgbClr val="D5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2770632"/>
            <a:ext cx="1298448" cy="256032"/>
          </a:xfrm>
          <a:prstGeom prst="rect">
            <a:avLst/>
          </a:prstGeom>
          <a:solidFill>
            <a:srgbClr val="ECEADE"/>
          </a:solidFill>
          <a:ln w="9525">
            <a:solidFill>
              <a:srgbClr val="1A18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2770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DIRECTOR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48256" y="2514600"/>
            <a:ext cx="2743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 with no consolidated view. Board meeting prep is manual synthesis every time.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65776" y="251460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health view. All board actions logged. The weekly digest IS the board meeting prep.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91856" y="2788920"/>
            <a:ext cx="822960" cy="274320"/>
          </a:xfrm>
          <a:prstGeom prst="rect">
            <a:avLst/>
          </a:prstGeom>
          <a:solidFill>
            <a:srgbClr val="ECEADE"/>
          </a:solidFill>
          <a:ln w="9525">
            <a:solidFill>
              <a:srgbClr val="2A4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91856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HRS/WK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4425696"/>
            <a:ext cx="8266176" cy="475488"/>
          </a:xfrm>
          <a:prstGeom prst="rect">
            <a:avLst/>
          </a:prstGeom>
          <a:solidFill>
            <a:srgbClr val="F0F5F2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4425696"/>
            <a:ext cx="64008" cy="475488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25696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role can optionally have committee members — non-board EO members with their own login, digest access, and to-do assignments.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56032"/>
            <a:ext cx="54864" cy="594360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Boards Don’t Operate Alone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969264"/>
            <a:ext cx="3931920" cy="371246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969264"/>
            <a:ext cx="3931920" cy="402336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9692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MEMBERS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access: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committee member belongs to one board role’s committee.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029968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66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Board-controlled login: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board member decides who can access Trifecta.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560320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96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toggle: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if they receive the digest, and how often.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3090672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27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participant: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view at-risk members, receive alerts, and act for their role.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621024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576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Imran + 1 committee member co-managing the membership pipeline in one shared view.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91456" y="969264"/>
            <a:ext cx="3913632" cy="3712464"/>
          </a:xfrm>
          <a:prstGeom prst="rect">
            <a:avLst/>
          </a:prstGeom>
          <a:solidFill>
            <a:srgbClr val="F5F3EB"/>
          </a:solidFill>
          <a:ln w="6350">
            <a:solidFill>
              <a:srgbClr val="D5D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969264"/>
            <a:ext cx="3913632" cy="402336"/>
          </a:xfrm>
          <a:prstGeom prst="rect">
            <a:avLst/>
          </a:prstGeom>
          <a:solidFill>
            <a:srgbClr val="1A1813"/>
          </a:solidFill>
          <a:ln w="12700">
            <a:solidFill>
              <a:srgbClr val="1A18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96926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CROSS-BOARD TO-DO ASSIGNMENT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74336" y="1536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to any user: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members, EDs, and committee members can all assign tasks.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74336" y="2029968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2066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In-digest delivery: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To-dos appear in the assignee’s next weekly digest — no separate tool needed.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74336" y="2560320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2596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 coordination: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Membership spots an event issue → flags the Events Chair directly.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74336" y="3090672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127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visibility: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assigner and assignee see open and completed to-dos.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74336" y="3621024"/>
            <a:ext cx="3566160" cy="18288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36576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pPr indent="0" marL="0">
              <a:buNone/>
            </a:pPr>
            <a:r>
              <a:rPr lang="en-US" sz="1150" dirty="0">
                <a:solidFill>
                  <a:srgbClr val="5C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roles overlap constantly. This closes the coordination gap without another Slack thread.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5D0C4"/>
          </a:solidFill>
          <a:ln w="12700">
            <a:solidFill>
              <a:srgbClr val="D5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50292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2179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Chapter to a Network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72768"/>
            <a:ext cx="2578608" cy="260604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572768"/>
            <a:ext cx="2578608" cy="54864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556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213969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 Dallas Pilot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2560320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70048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algorithm. Validate engagement signals. Zero behavior change required.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1572768"/>
            <a:ext cx="2578608" cy="260604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572768"/>
            <a:ext cx="2578608" cy="54864"/>
          </a:xfrm>
          <a:prstGeom prst="rect">
            <a:avLst/>
          </a:prstGeom>
          <a:solidFill>
            <a:srgbClr val="7A5C14"/>
          </a:solidFill>
          <a:ln w="12700">
            <a:solidFill>
              <a:srgbClr val="7A5C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556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13969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Dallas + Fort Worth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560320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70048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scoring. Add board AI layer. Formalize pricing. Two chapters, two proof points.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70448" y="1572768"/>
            <a:ext cx="2578608" cy="2606040"/>
          </a:xfrm>
          <a:prstGeom prst="rect">
            <a:avLst/>
          </a:prstGeom>
          <a:solidFill>
            <a:srgbClr val="3A3830"/>
          </a:solidFill>
          <a:ln w="6350">
            <a:solidFill>
              <a:srgbClr val="8C87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0448" y="1572768"/>
            <a:ext cx="2578608" cy="5486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17556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07608" y="213969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50–100 EO Chapters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07608" y="2560320"/>
            <a:ext cx="2304288" cy="18288"/>
          </a:xfrm>
          <a:prstGeom prst="rect">
            <a:avLst/>
          </a:prstGeom>
          <a:solidFill>
            <a:srgbClr val="8C8778"/>
          </a:solidFill>
          <a:ln w="12700">
            <a:solidFill>
              <a:srgbClr val="8C87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2670048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SaaS. EO Global API. Multi-chapter benchmarking. Potential partnership or acquisition.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" y="4370832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480560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cost: ~$15–18/month per chapter.  EO network: 180+ chapters globally. Each one has this exact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411480"/>
            <a:ext cx="640080" cy="640080"/>
          </a:xfrm>
          <a:prstGeom prst="rect">
            <a:avLst/>
          </a:prstGeom>
          <a:solidFill>
            <a:srgbClr val="F5F3EB"/>
          </a:solidFill>
          <a:ln w="12700">
            <a:solidFill>
              <a:srgbClr val="F5F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8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8988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8912" y="221284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member who leaves takes years of community with them.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C8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churn is not inevitable — it’s preventable.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C8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Trifecta exists so no one slips through the cracks on your watch.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" y="3749040"/>
            <a:ext cx="8266176" cy="18288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8587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A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problem.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2A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product.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2A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moment.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Trifecta — Vision Deck</dc:title>
  <dc:subject>PptxGenJS Presentation</dc:subject>
  <dc:creator>Imran Karim</dc:creator>
  <cp:lastModifiedBy>Imran Karim</cp:lastModifiedBy>
  <cp:revision>1</cp:revision>
  <dcterms:created xsi:type="dcterms:W3CDTF">2026-05-26T02:47:52Z</dcterms:created>
  <dcterms:modified xsi:type="dcterms:W3CDTF">2026-05-26T02:47:52Z</dcterms:modified>
</cp:coreProperties>
</file>