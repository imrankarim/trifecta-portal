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5B8C1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5B8C1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417320"/>
            <a:ext cx="82296" cy="2286000"/>
          </a:xfrm>
          <a:prstGeom prst="rect">
            <a:avLst/>
          </a:prstGeom>
          <a:solidFill>
            <a:srgbClr val="05B8C1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4173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TRIFECTA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49808" y="2423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5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invisible Chief of Staff for EO Boards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49808" y="303580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churn. Enabling boards. One digest at a time.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9808" y="4160520"/>
            <a:ext cx="2103120" cy="384048"/>
          </a:xfrm>
          <a:prstGeom prst="rect">
            <a:avLst/>
          </a:prstGeom>
          <a:solidFill>
            <a:srgbClr val="05B8C1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41605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 Dallas  ·  Pilot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45536" y="4160520"/>
            <a:ext cx="2103120" cy="384048"/>
          </a:xfrm>
          <a:prstGeom prst="rect">
            <a:avLst/>
          </a:prstGeom>
          <a:solidFill>
            <a:srgbClr val="2E4570"/>
          </a:solidFill>
          <a:ln w="12700">
            <a:solidFill>
              <a:srgbClr val="2E45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45536" y="41605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Engine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41264" y="4160520"/>
            <a:ext cx="2103120" cy="384048"/>
          </a:xfrm>
          <a:prstGeom prst="rect">
            <a:avLst/>
          </a:prstGeom>
          <a:solidFill>
            <a:srgbClr val="2E4570"/>
          </a:solidFill>
          <a:ln w="12700">
            <a:solidFill>
              <a:srgbClr val="2E45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41264" y="41605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5B8C1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0058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5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BEGINNING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1261872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product starts with a moment.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2194560"/>
            <a:ext cx="8138160" cy="1417320"/>
          </a:xfrm>
          <a:prstGeom prst="rect">
            <a:avLst/>
          </a:prstGeom>
          <a:solidFill>
            <a:srgbClr val="2E4570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304288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recruited Michael. He joined. He was engaged. Then he went quiet.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I noticed, it was already too late to reverse course. He wasn’t renewing.”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7307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Imran Karim, Membership Director, EO Dallas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418795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Trifecta exists because that moment should never happen again.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47472"/>
            <a:ext cx="64008" cy="594360"/>
          </a:xfrm>
          <a:prstGeom prst="rect">
            <a:avLst/>
          </a:prstGeom>
          <a:solidFill>
            <a:srgbClr val="05B8C1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4747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EO Boards Are Flying Blind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102412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member data lives in 4 disconnected places. The board makes decisions by gut.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11480" y="1463040"/>
            <a:ext cx="1901952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463040"/>
            <a:ext cx="1901952" cy="73152"/>
          </a:xfrm>
          <a:prstGeom prst="rect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64208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HubSpot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176272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&amp;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pipeline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95728" y="1463040"/>
            <a:ext cx="1901952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95728" y="1463040"/>
            <a:ext cx="1901952" cy="73152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32888" y="1664208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Sheets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32888" y="2176272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Forums &amp;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tracking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79976" y="1463040"/>
            <a:ext cx="1901952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79976" y="1463040"/>
            <a:ext cx="1901952" cy="73152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17136" y="1664208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WhatsApp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17136" y="2176272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&amp;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pulse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64224" y="1463040"/>
            <a:ext cx="1901952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64224" y="1463040"/>
            <a:ext cx="1901952" cy="73152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01384" y="1664208"/>
            <a:ext cx="1627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EO Global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01384" y="2176272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dues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" y="4462272"/>
            <a:ext cx="832104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46227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tools talk to each other. There is no single view of member health. The board reacts — it doesn’t predict.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5B8C1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0058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5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COST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Reactive Leadership Looks Like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475488" cy="475488"/>
          </a:xfrm>
          <a:prstGeom prst="ellipse">
            <a:avLst/>
          </a:prstGeom>
          <a:solidFill>
            <a:srgbClr val="05B8C1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057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70432" y="2093976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member misses 3 events. Nobody connects the dots across HubSpot, forum records, and WhatsApp.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898648"/>
            <a:ext cx="475488" cy="475488"/>
          </a:xfrm>
          <a:prstGeom prst="ellipse">
            <a:avLst/>
          </a:prstGeom>
          <a:solidFill>
            <a:srgbClr val="05B8C1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8986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70432" y="2935224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 participation quietly drops. Only the Forum Director might notice — weeks later, if at all.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3739896"/>
            <a:ext cx="475488" cy="475488"/>
          </a:xfrm>
          <a:prstGeom prst="ellipse">
            <a:avLst/>
          </a:prstGeom>
          <a:solidFill>
            <a:srgbClr val="05B8C1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7398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70432" y="3776472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a board member picks up the phone, the member has already mentally left.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1480" y="4480560"/>
            <a:ext cx="8321040" cy="402336"/>
          </a:xfrm>
          <a:prstGeom prst="rect">
            <a:avLst/>
          </a:prstGeom>
          <a:solidFill>
            <a:srgbClr val="05B8C1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4480560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Churn is a lagging indicator.  Trifecta turns it into a leading one.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5B8C1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0058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5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1261872"/>
            <a:ext cx="8138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Trifecta connects to every tool your chapter already uses, scores every member’s engagement across all signals, and tells each board member exactly what to do — before it’s too late.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11480" y="2880360"/>
            <a:ext cx="2578608" cy="1719072"/>
          </a:xfrm>
          <a:prstGeom prst="rect">
            <a:avLst/>
          </a:prstGeom>
          <a:solidFill>
            <a:srgbClr val="2E4570"/>
          </a:solidFill>
          <a:ln w="9525">
            <a:solidFill>
              <a:srgbClr val="05B8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063240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5B8C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PROACTIVE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538728"/>
            <a:ext cx="230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before churn happens, not after.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at-risk members every single week.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127248" y="2880360"/>
            <a:ext cx="2578608" cy="1719072"/>
          </a:xfrm>
          <a:prstGeom prst="rect">
            <a:avLst/>
          </a:prstGeom>
          <a:solidFill>
            <a:srgbClr val="2E4570"/>
          </a:solidFill>
          <a:ln w="9525">
            <a:solidFill>
              <a:srgbClr val="05B8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64408" y="3063240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5B8C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ROLE-SPECIFIC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64408" y="3538728"/>
            <a:ext cx="230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board seat gets a personalized digest.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actions, not noise.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843016" y="2880360"/>
            <a:ext cx="2578608" cy="1719072"/>
          </a:xfrm>
          <a:prstGeom prst="rect">
            <a:avLst/>
          </a:prstGeom>
          <a:solidFill>
            <a:srgbClr val="2E4570"/>
          </a:solidFill>
          <a:ln w="9525">
            <a:solidFill>
              <a:srgbClr val="05B8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80176" y="3063240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5B8C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FRICTION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80176" y="3538728"/>
            <a:ext cx="23042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your existing tools.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behavior change required from day one.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64008" cy="594360"/>
          </a:xfrm>
          <a:prstGeom prst="rect">
            <a:avLst/>
          </a:prstGeom>
          <a:solidFill>
            <a:srgbClr val="05B8C1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9260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Intelligence Engine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9875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5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192024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984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 Global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14016" y="1298448"/>
            <a:ext cx="192024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14016" y="12984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16552" y="1298448"/>
            <a:ext cx="192024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16552" y="12984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19088" y="1298448"/>
            <a:ext cx="192024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9088" y="12984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335024" y="1801368"/>
            <a:ext cx="73152" cy="182880"/>
          </a:xfrm>
          <a:prstGeom prst="rect">
            <a:avLst/>
          </a:prstGeom>
          <a:solidFill>
            <a:srgbClr val="05B8C1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1801368"/>
            <a:ext cx="73152" cy="182880"/>
          </a:xfrm>
          <a:prstGeom prst="rect">
            <a:avLst/>
          </a:prstGeom>
          <a:solidFill>
            <a:srgbClr val="05B8C1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40096" y="1801368"/>
            <a:ext cx="73152" cy="182880"/>
          </a:xfrm>
          <a:prstGeom prst="rect">
            <a:avLst/>
          </a:prstGeom>
          <a:solidFill>
            <a:srgbClr val="05B8C1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42632" y="1801368"/>
            <a:ext cx="73152" cy="182880"/>
          </a:xfrm>
          <a:prstGeom prst="rect">
            <a:avLst/>
          </a:prstGeom>
          <a:solidFill>
            <a:srgbClr val="05B8C1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1984248"/>
            <a:ext cx="8321040" cy="54864"/>
          </a:xfrm>
          <a:prstGeom prst="rect">
            <a:avLst/>
          </a:prstGeom>
          <a:solidFill>
            <a:srgbClr val="05B8C1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24528" y="2039112"/>
            <a:ext cx="694944" cy="256032"/>
          </a:xfrm>
          <a:prstGeom prst="rect">
            <a:avLst/>
          </a:prstGeom>
          <a:solidFill>
            <a:srgbClr val="05B8C1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24528" y="2039112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▼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468880" y="2350008"/>
            <a:ext cx="4206240" cy="658368"/>
          </a:xfrm>
          <a:prstGeom prst="rect">
            <a:avLst/>
          </a:prstGeom>
          <a:solidFill>
            <a:srgbClr val="05B8C1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68880" y="235000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ENGAGEMENT SCORING ENGINE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224528" y="3063240"/>
            <a:ext cx="694944" cy="347472"/>
          </a:xfrm>
          <a:prstGeom prst="rect">
            <a:avLst/>
          </a:prstGeom>
          <a:solidFill>
            <a:srgbClr val="05B8C1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24528" y="3063240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▼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11480" y="34564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5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1480" y="3767328"/>
            <a:ext cx="1920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" y="3767328"/>
            <a:ext cx="64008" cy="566928"/>
          </a:xfrm>
          <a:prstGeom prst="rect">
            <a:avLst/>
          </a:prstGeom>
          <a:solidFill>
            <a:srgbClr val="05B8C1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76732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Digest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414016" y="3767328"/>
            <a:ext cx="1920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414016" y="3767328"/>
            <a:ext cx="64008" cy="566928"/>
          </a:xfrm>
          <a:prstGeom prst="rect">
            <a:avLst/>
          </a:prstGeom>
          <a:solidFill>
            <a:srgbClr val="05B8C1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96896" y="376732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Alerts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416552" y="3767328"/>
            <a:ext cx="1920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416552" y="3767328"/>
            <a:ext cx="64008" cy="566928"/>
          </a:xfrm>
          <a:prstGeom prst="rect">
            <a:avLst/>
          </a:prstGeom>
          <a:solidFill>
            <a:srgbClr val="05B8C1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99432" y="376732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Actions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419088" y="3767328"/>
            <a:ext cx="1920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19088" y="3767328"/>
            <a:ext cx="64008" cy="566928"/>
          </a:xfrm>
          <a:prstGeom prst="rect">
            <a:avLst/>
          </a:prstGeom>
          <a:solidFill>
            <a:srgbClr val="05B8C1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01968" y="376732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To-Do Queue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64008" cy="594360"/>
          </a:xfrm>
          <a:prstGeom prst="rect">
            <a:avLst/>
          </a:prstGeom>
          <a:solidFill>
            <a:srgbClr val="05B8C1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9260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Trifecta Measures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96926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signals. One score. One ranked list of who needs attention.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444752"/>
            <a:ext cx="1901952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444752"/>
            <a:ext cx="1901952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0976" y="1609344"/>
            <a:ext cx="749808" cy="7498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1609344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2862072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Forum Participation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3364992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Active, Attending, or Missing?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 health is the earliest signal.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95728" y="1444752"/>
            <a:ext cx="1901952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395728" y="1444752"/>
            <a:ext cx="1901952" cy="64008"/>
          </a:xfrm>
          <a:prstGeom prst="rect">
            <a:avLst/>
          </a:prstGeom>
          <a:solidFill>
            <a:srgbClr val="E07B23"/>
          </a:solidFill>
          <a:ln w="12700">
            <a:solidFill>
              <a:srgbClr val="E07B2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35224" y="1609344"/>
            <a:ext cx="749808" cy="749808"/>
          </a:xfrm>
          <a:prstGeom prst="ellipse">
            <a:avLst/>
          </a:prstGeom>
          <a:solidFill>
            <a:srgbClr val="E07B23"/>
          </a:solidFill>
          <a:ln w="12700">
            <a:solidFill>
              <a:srgbClr val="E07B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35224" y="1609344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487168" y="2862072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 Attendance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487168" y="3364992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Declining, or Absent?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over time, not single events.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79976" y="1444752"/>
            <a:ext cx="1901952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79976" y="1444752"/>
            <a:ext cx="1901952" cy="64008"/>
          </a:xfrm>
          <a:prstGeom prst="rect">
            <a:avLst/>
          </a:prstGeom>
          <a:solidFill>
            <a:srgbClr val="6B4FA8"/>
          </a:solidFill>
          <a:ln w="12700">
            <a:solidFill>
              <a:srgbClr val="6B4F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19472" y="1609344"/>
            <a:ext cx="749808" cy="749808"/>
          </a:xfrm>
          <a:prstGeom prst="ellipse">
            <a:avLst/>
          </a:prstGeom>
          <a:solidFill>
            <a:srgbClr val="6B4FA8"/>
          </a:solidFill>
          <a:ln w="12700">
            <a:solidFill>
              <a:srgbClr val="6B4F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1609344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471416" y="2862072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Spouse / SLP Involvement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471416" y="3364992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leading indicator of full member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and family buy-in.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64224" y="1444752"/>
            <a:ext cx="1901952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64224" y="1444752"/>
            <a:ext cx="1901952" cy="64008"/>
          </a:xfrm>
          <a:prstGeom prst="rect">
            <a:avLst/>
          </a:prstGeom>
          <a:solidFill>
            <a:srgbClr val="1DA55D"/>
          </a:solidFill>
          <a:ln w="12700">
            <a:solidFill>
              <a:srgbClr val="1DA55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03720" y="1609344"/>
            <a:ext cx="749808" cy="749808"/>
          </a:xfrm>
          <a:prstGeom prst="ellipse">
            <a:avLst/>
          </a:prstGeom>
          <a:solidFill>
            <a:srgbClr val="1DA55D"/>
          </a:solidFill>
          <a:ln w="12700">
            <a:solidFill>
              <a:srgbClr val="1DA55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3720" y="1609344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455664" y="2862072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WhatsApp Activity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55664" y="3364992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pulse — previously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to any board.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11480" y="4462272"/>
            <a:ext cx="832104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46227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10–20% surfaces automatically every week. Each board member knows exactly who to call.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2377440" cy="292608"/>
          </a:xfrm>
          <a:prstGeom prst="rect">
            <a:avLst/>
          </a:prstGeom>
          <a:solidFill>
            <a:srgbClr val="05B8C1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TROJAN HORSE MVP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640080"/>
            <a:ext cx="64008" cy="594360"/>
          </a:xfrm>
          <a:prstGeom prst="rect">
            <a:avLst/>
          </a:prstGeom>
          <a:solidFill>
            <a:srgbClr val="05B8C1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6400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 the Algorithm. Change Nothing.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21792" y="1325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what exists. Surface who’s at risk. Let the board do what boards do.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737360"/>
            <a:ext cx="395020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737360"/>
            <a:ext cx="54864" cy="658368"/>
          </a:xfrm>
          <a:prstGeom prst="rect">
            <a:avLst/>
          </a:prstGeom>
          <a:solidFill>
            <a:srgbClr val="05B8C1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810512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Multi-source sync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084832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 + Google Sheets + EO Global connected in the background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965192" y="1737360"/>
            <a:ext cx="395020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65192" y="1737360"/>
            <a:ext cx="54864" cy="658368"/>
          </a:xfrm>
          <a:prstGeom prst="rect">
            <a:avLst/>
          </a:prstGeom>
          <a:solidFill>
            <a:srgbClr val="05B8C1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48072" y="1810512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Engagement scoring engine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48072" y="2084832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signals → one ranked member health list, updated weekly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2468880"/>
            <a:ext cx="395020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2468880"/>
            <a:ext cx="54864" cy="658368"/>
          </a:xfrm>
          <a:prstGeom prst="rect">
            <a:avLst/>
          </a:prstGeom>
          <a:solidFill>
            <a:srgbClr val="05B8C1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542032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At-risk member digest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2816352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10–20% surfaced automatically with context per role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965192" y="2468880"/>
            <a:ext cx="395020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65192" y="2468880"/>
            <a:ext cx="54864" cy="658368"/>
          </a:xfrm>
          <a:prstGeom prst="rect">
            <a:avLst/>
          </a:prstGeom>
          <a:solidFill>
            <a:srgbClr val="05B8C1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48072" y="2542032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Role-based login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48072" y="2816352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access per board seat — each person sees relevant data only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1480" y="3200400"/>
            <a:ext cx="395020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3200400"/>
            <a:ext cx="54864" cy="658368"/>
          </a:xfrm>
          <a:prstGeom prst="rect">
            <a:avLst/>
          </a:prstGeom>
          <a:solidFill>
            <a:srgbClr val="05B8C1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273552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Committee member access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94360" y="3547872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committee members per role; toggle digest frequency and login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965192" y="3200400"/>
            <a:ext cx="395020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965192" y="3200400"/>
            <a:ext cx="54864" cy="658368"/>
          </a:xfrm>
          <a:prstGeom prst="rect">
            <a:avLst/>
          </a:prstGeom>
          <a:solidFill>
            <a:srgbClr val="05B8C1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48072" y="3273552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Cross-board to-do assignment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48072" y="3547872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user assigns a task to any other; appears in their weekly digest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11480" y="3931920"/>
            <a:ext cx="395020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11480" y="3931920"/>
            <a:ext cx="54864" cy="658368"/>
          </a:xfrm>
          <a:prstGeom prst="rect">
            <a:avLst/>
          </a:prstGeom>
          <a:solidFill>
            <a:srgbClr val="05B8C1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4005072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WhatsApp input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94360" y="4279392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community sentiment signals until full WhatsApp API is live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965192" y="3931920"/>
            <a:ext cx="3950208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965192" y="3931920"/>
            <a:ext cx="54864" cy="658368"/>
          </a:xfrm>
          <a:prstGeom prst="rect">
            <a:avLst/>
          </a:prstGeom>
          <a:solidFill>
            <a:srgbClr val="05B8C1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48072" y="4005072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Outcome tracking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148072" y="4279392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what happened after each outreach — did we save the member?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64008" cy="594360"/>
          </a:xfrm>
          <a:prstGeom prst="rect">
            <a:avLst/>
          </a:prstGeom>
          <a:solidFill>
            <a:srgbClr val="05B8C1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9260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Comes Next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237744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05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BOARD INTELLIGENCE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353312"/>
            <a:ext cx="3931920" cy="34015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4475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Board Role Assistant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9933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"Who should I call this week and what should I say?"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answered, every week.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50545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 digest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prioritised members and suggested actions.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0175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training doc knowledge base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searchable by the AI.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52958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→ recommended action → outcome logged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one flow.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40416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Proactive, not reactive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serves every board seat like a personal chief of staff.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00600" y="1005840"/>
            <a:ext cx="237744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005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05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THE PLATFORM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00600" y="1353312"/>
            <a:ext cx="3931920" cy="34015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83480" y="144475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EO Chapter CRM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983480" y="19933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 replacement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chapters not already invested in it.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250545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pipeline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built for EO’s membership structure.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30175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 Global API integration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confirmed stakeholder priority.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352958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Multi-chapter deployment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full chapter data isolation.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83480" y="40416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EO Global partnership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acquisition path at scale.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5B8C1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0058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5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STRANGLER FIG STRATEGY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Trifecta Replaces HubSpot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2084832"/>
            <a:ext cx="2578608" cy="2542032"/>
          </a:xfrm>
          <a:prstGeom prst="rect">
            <a:avLst/>
          </a:prstGeom>
          <a:solidFill>
            <a:srgbClr val="2E4570"/>
          </a:solidFill>
          <a:ln w="6350">
            <a:solidFill>
              <a:srgbClr val="05B8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2084832"/>
            <a:ext cx="2578608" cy="475488"/>
          </a:xfrm>
          <a:prstGeom prst="rect">
            <a:avLst/>
          </a:prstGeom>
          <a:solidFill>
            <a:srgbClr val="05B8C1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84832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 ·  AUGMENT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23042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HubSpot. Pull in what it can’t see — WhatsApp, Sheets, forum data. Make HubSpot smarter by wrapping it.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005072"/>
            <a:ext cx="2304288" cy="27432"/>
          </a:xfrm>
          <a:prstGeom prst="rect">
            <a:avLst/>
          </a:prstGeom>
          <a:solidFill>
            <a:srgbClr val="C0D4E8"/>
          </a:solidFill>
          <a:ln w="12700">
            <a:solidFill>
              <a:srgbClr val="C0D4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114800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 Dallas: This is Phase 1 &amp; 2. Lead with augmentation, not replacement.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27248" y="2084832"/>
            <a:ext cx="2578608" cy="2542032"/>
          </a:xfrm>
          <a:prstGeom prst="rect">
            <a:avLst/>
          </a:prstGeom>
          <a:solidFill>
            <a:srgbClr val="2E4570"/>
          </a:solidFill>
          <a:ln w="6350">
            <a:solidFill>
              <a:srgbClr val="05B8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27248" y="2084832"/>
            <a:ext cx="2578608" cy="475488"/>
          </a:xfrm>
          <a:prstGeom prst="rect">
            <a:avLst/>
          </a:prstGeom>
          <a:solidFill>
            <a:srgbClr val="05B8C1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2084832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 ·  PARALLEL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64408" y="2651760"/>
            <a:ext cx="23042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Trifecta becomes the primary intelligence layer. HubSpot is just one of several data sources. Boards stop logging into HubSpot for insights.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64408" y="4005072"/>
            <a:ext cx="2304288" cy="27432"/>
          </a:xfrm>
          <a:prstGeom prst="rect">
            <a:avLst/>
          </a:prstGeom>
          <a:solidFill>
            <a:srgbClr val="C0D4E8"/>
          </a:solidFill>
          <a:ln w="12700">
            <a:solidFill>
              <a:srgbClr val="C0D4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64408" y="4114800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transition happens naturally as Trifecta becomes the view boards actually use.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43016" y="2084832"/>
            <a:ext cx="2578608" cy="2542032"/>
          </a:xfrm>
          <a:prstGeom prst="rect">
            <a:avLst/>
          </a:prstGeom>
          <a:solidFill>
            <a:srgbClr val="2E4570"/>
          </a:solidFill>
          <a:ln w="6350">
            <a:solidFill>
              <a:srgbClr val="05B8C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43016" y="2084832"/>
            <a:ext cx="2578608" cy="475488"/>
          </a:xfrm>
          <a:prstGeom prst="rect">
            <a:avLst/>
          </a:prstGeom>
          <a:solidFill>
            <a:srgbClr val="05B8C1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0176" y="2084832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 ·  REPLACE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80176" y="2651760"/>
            <a:ext cx="23042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chapters not already invested in HubSpot, Trifecta IS the CRM. Native EO structure. Built around how chapters actually work.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980176" y="4005072"/>
            <a:ext cx="2304288" cy="27432"/>
          </a:xfrm>
          <a:prstGeom prst="rect">
            <a:avLst/>
          </a:prstGeom>
          <a:solidFill>
            <a:srgbClr val="C0D4E8"/>
          </a:solidFill>
          <a:ln w="12700">
            <a:solidFill>
              <a:srgbClr val="C0D4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80176" y="4114800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rest of the EO network: the full replacement path is open from day one.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594360"/>
          </a:xfrm>
          <a:prstGeom prst="rect">
            <a:avLst/>
          </a:prstGeom>
          <a:solidFill>
            <a:srgbClr val="05B8C1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5603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Trifecta by Board Role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1389888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4632" y="93268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5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901952" y="932688"/>
            <a:ext cx="292608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75104" y="93268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5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TODAY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919472" y="932688"/>
            <a:ext cx="292608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92624" y="93268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5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TRIFECTA DOES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936992" y="932688"/>
            <a:ext cx="987552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10144" y="932688"/>
            <a:ext cx="896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5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11480" y="1316736"/>
            <a:ext cx="1389888" cy="10972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C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1952" y="1316736"/>
            <a:ext cx="2926080" cy="10972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C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19472" y="1316736"/>
            <a:ext cx="2926080" cy="10972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C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36992" y="1316736"/>
            <a:ext cx="987552" cy="10972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1664208"/>
            <a:ext cx="1280160" cy="256032"/>
          </a:xfrm>
          <a:prstGeom prst="rect">
            <a:avLst/>
          </a:prstGeom>
          <a:solidFill>
            <a:srgbClr val="05B8C1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6642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President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993392" y="1389888"/>
            <a:ext cx="2743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view. Must aggregate from multiple people before every meeting. Operates on gut.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10912" y="1389888"/>
            <a:ext cx="2743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health summary + active risks + board action tracker. One view, always current.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973568" y="1682496"/>
            <a:ext cx="914400" cy="329184"/>
          </a:xfrm>
          <a:prstGeom prst="rect">
            <a:avLst/>
          </a:prstGeom>
          <a:solidFill>
            <a:srgbClr val="05B8C1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73568" y="168249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hrs/wk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2478024"/>
            <a:ext cx="1389888" cy="1097280"/>
          </a:xfrm>
          <a:prstGeom prst="rect">
            <a:avLst/>
          </a:prstGeom>
          <a:solidFill>
            <a:srgbClr val="F7FAFF"/>
          </a:solidFill>
          <a:ln w="3810">
            <a:solidFill>
              <a:srgbClr val="D1DC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1952" y="2478024"/>
            <a:ext cx="2926080" cy="1097280"/>
          </a:xfrm>
          <a:prstGeom prst="rect">
            <a:avLst/>
          </a:prstGeom>
          <a:solidFill>
            <a:srgbClr val="F7FAFF"/>
          </a:solidFill>
          <a:ln w="3810">
            <a:solidFill>
              <a:srgbClr val="D1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19472" y="2478024"/>
            <a:ext cx="2926080" cy="1097280"/>
          </a:xfrm>
          <a:prstGeom prst="rect">
            <a:avLst/>
          </a:prstGeom>
          <a:solidFill>
            <a:srgbClr val="F7FAFF"/>
          </a:solidFill>
          <a:ln w="3810">
            <a:solidFill>
              <a:srgbClr val="D1DC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36992" y="2478024"/>
            <a:ext cx="987552" cy="1097280"/>
          </a:xfrm>
          <a:prstGeom prst="rect">
            <a:avLst/>
          </a:prstGeom>
          <a:solidFill>
            <a:srgbClr val="F7FAFF"/>
          </a:solidFill>
          <a:ln w="3810">
            <a:solidFill>
              <a:srgbClr val="D1DC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825496"/>
            <a:ext cx="1280160" cy="256032"/>
          </a:xfrm>
          <a:prstGeom prst="rect">
            <a:avLst/>
          </a:prstGeom>
          <a:solidFill>
            <a:srgbClr val="05B8C1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82549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Director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993392" y="2551176"/>
            <a:ext cx="2743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spreadsheet review, no WhatsApp visibility, no forum signal. Reactive when already too late.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10912" y="2551176"/>
            <a:ext cx="2743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scoring across all sources. At-risk list with suggested actions. Committee co-pilot.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973568" y="2843784"/>
            <a:ext cx="914400" cy="329184"/>
          </a:xfrm>
          <a:prstGeom prst="rect">
            <a:avLst/>
          </a:prstGeom>
          <a:solidFill>
            <a:srgbClr val="05B8C1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73568" y="284378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hrs/wk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11480" y="3639312"/>
            <a:ext cx="1389888" cy="10972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C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01952" y="3639312"/>
            <a:ext cx="2926080" cy="10972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C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19472" y="3639312"/>
            <a:ext cx="2926080" cy="10972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C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36992" y="3639312"/>
            <a:ext cx="987552" cy="10972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C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3986784"/>
            <a:ext cx="1280160" cy="256032"/>
          </a:xfrm>
          <a:prstGeom prst="rect">
            <a:avLst/>
          </a:prstGeom>
          <a:solidFill>
            <a:srgbClr val="05B8C1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9867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 Director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993392" y="3712464"/>
            <a:ext cx="2743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 health lives in memory. No cross-signal view. Drops are invisible until they’re not.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010912" y="3712464"/>
            <a:ext cx="2743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 participation flagged as engagement signal. At-risk forum members surfaced weekly.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973568" y="4005072"/>
            <a:ext cx="914400" cy="329184"/>
          </a:xfrm>
          <a:prstGeom prst="rect">
            <a:avLst/>
          </a:prstGeom>
          <a:solidFill>
            <a:srgbClr val="05B8C1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73568" y="400507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hrs/wk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594360"/>
          </a:xfrm>
          <a:prstGeom prst="rect">
            <a:avLst/>
          </a:prstGeom>
          <a:solidFill>
            <a:srgbClr val="05B8C1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5603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Trifecta by Board Role (cont’d)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1389888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4632" y="93268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5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901952" y="932688"/>
            <a:ext cx="292608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75104" y="93268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5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TODAY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919472" y="932688"/>
            <a:ext cx="292608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92624" y="93268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5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TRIFECTA DOES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936992" y="932688"/>
            <a:ext cx="987552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10144" y="932688"/>
            <a:ext cx="896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5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11480" y="1316736"/>
            <a:ext cx="1389888" cy="10972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C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1952" y="1316736"/>
            <a:ext cx="2926080" cy="10972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C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19472" y="1316736"/>
            <a:ext cx="2926080" cy="10972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C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36992" y="1316736"/>
            <a:ext cx="987552" cy="10972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1664208"/>
            <a:ext cx="128016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6642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Chair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993392" y="1389888"/>
            <a:ext cx="2743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data in HubSpot but disconnected from member health. No pre-event member intelligence.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10912" y="1389888"/>
            <a:ext cx="277977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trends as part of the health score. Pre-event flag: who hasn’t attended recently?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973568" y="1682496"/>
            <a:ext cx="914400" cy="329184"/>
          </a:xfrm>
          <a:prstGeom prst="rect">
            <a:avLst/>
          </a:prstGeom>
          <a:solidFill>
            <a:srgbClr val="05B8C1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73568" y="168249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hrs/wk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2478024"/>
            <a:ext cx="1389888" cy="1097280"/>
          </a:xfrm>
          <a:prstGeom prst="rect">
            <a:avLst/>
          </a:prstGeom>
          <a:solidFill>
            <a:srgbClr val="F7FAFF"/>
          </a:solidFill>
          <a:ln w="3810">
            <a:solidFill>
              <a:srgbClr val="D1DC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1952" y="2478024"/>
            <a:ext cx="2926080" cy="1097280"/>
          </a:xfrm>
          <a:prstGeom prst="rect">
            <a:avLst/>
          </a:prstGeom>
          <a:solidFill>
            <a:srgbClr val="F7FAFF"/>
          </a:solidFill>
          <a:ln w="3810">
            <a:solidFill>
              <a:srgbClr val="D1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19472" y="2478024"/>
            <a:ext cx="2926080" cy="1097280"/>
          </a:xfrm>
          <a:prstGeom prst="rect">
            <a:avLst/>
          </a:prstGeom>
          <a:solidFill>
            <a:srgbClr val="F7FAFF"/>
          </a:solidFill>
          <a:ln w="3810">
            <a:solidFill>
              <a:srgbClr val="D1DC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36992" y="2478024"/>
            <a:ext cx="987552" cy="1097280"/>
          </a:xfrm>
          <a:prstGeom prst="rect">
            <a:avLst/>
          </a:prstGeom>
          <a:solidFill>
            <a:srgbClr val="F7FAFF"/>
          </a:solidFill>
          <a:ln w="3810">
            <a:solidFill>
              <a:srgbClr val="D1DC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825496"/>
            <a:ext cx="128016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82549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Director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993392" y="2551176"/>
            <a:ext cx="2743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backbone with no consolidated view. Board meeting prep is manual synthesis every time.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10912" y="2551176"/>
            <a:ext cx="277977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operational health view. All board actions logged. The weekly digest IS the board meeting prep.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973568" y="2843784"/>
            <a:ext cx="914400" cy="329184"/>
          </a:xfrm>
          <a:prstGeom prst="rect">
            <a:avLst/>
          </a:prstGeom>
          <a:solidFill>
            <a:srgbClr val="05B8C1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73568" y="284378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hrs/wk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11480" y="4434840"/>
            <a:ext cx="8321040" cy="475488"/>
          </a:xfrm>
          <a:prstGeom prst="rect">
            <a:avLst/>
          </a:prstGeom>
          <a:solidFill>
            <a:srgbClr val="E0F7F8"/>
          </a:solidFill>
          <a:ln w="9525">
            <a:solidFill>
              <a:srgbClr val="05B8C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44348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board role can optionally have committee members — non-board EO members with their own login, digest access, and to-do assignments.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594360"/>
          </a:xfrm>
          <a:prstGeom prst="rect">
            <a:avLst/>
          </a:prstGeom>
          <a:solidFill>
            <a:srgbClr val="05B8C1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5603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Boards Don’t Operate Alone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987552"/>
            <a:ext cx="3977640" cy="3639312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87552"/>
            <a:ext cx="3977640" cy="457200"/>
          </a:xfrm>
          <a:prstGeom prst="rect">
            <a:avLst/>
          </a:prstGeom>
          <a:solidFill>
            <a:srgbClr val="05B8C1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8755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COMMITTEE MEMBERS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57276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Role-scoped access:</a:t>
            </a:r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Each committee member belongs to one board role’s committee.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12140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Board-controlled login:</a:t>
            </a:r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board member decides who can access Trifecta.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67004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 toggle:</a:t>
            </a:r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Set if they receive the digest, and how often.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21868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participant:</a:t>
            </a:r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 view at-risk members, receive alerts, and act for their role.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76732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example:</a:t>
            </a:r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Imran + 1 committee member co-managing the membership pipeline together in one shared view.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987552"/>
            <a:ext cx="3977640" cy="3639312"/>
          </a:xfrm>
          <a:prstGeom prst="rect">
            <a:avLst/>
          </a:prstGeom>
          <a:solidFill>
            <a:srgbClr val="FFFFFF"/>
          </a:solidFill>
          <a:ln w="635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987552"/>
            <a:ext cx="397764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98755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5B8C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CROSS-BOARD TO-DO ASSIGNMENT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157276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user to any user:</a:t>
            </a:r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Board members, EDs, and committee members can all assign tasks.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12140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In-digest delivery:</a:t>
            </a:r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To-dos appear in the assignee’s next weekly digest — no separate tool needed.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67004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Cross-role coordination:</a:t>
            </a:r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Membership spots an event issue → flags the Events Chair directly.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321868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visibility:</a:t>
            </a:r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Both assigner and assignee see open and completed to-dos.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376732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</a:t>
            </a:r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Board roles overlap constantly. This closes the coordination gap without another Slack thread.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5B8C1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0058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5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120700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One Chapter to a Network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2029968"/>
            <a:ext cx="2542032" cy="2487168"/>
          </a:xfrm>
          <a:prstGeom prst="rect">
            <a:avLst/>
          </a:prstGeom>
          <a:solidFill>
            <a:srgbClr val="2E4570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029968"/>
            <a:ext cx="2542032" cy="457200"/>
          </a:xfrm>
          <a:prstGeom prst="rect">
            <a:avLst/>
          </a:prstGeom>
          <a:solidFill>
            <a:srgbClr val="05B8C1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2029968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04088" y="2596896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EO Dallas Pilot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04088" y="3054096"/>
            <a:ext cx="22677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algorithm. Validate engagement signals. Zero behavior change required.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29000" y="2029968"/>
            <a:ext cx="2542032" cy="2487168"/>
          </a:xfrm>
          <a:prstGeom prst="rect">
            <a:avLst/>
          </a:prstGeom>
          <a:solidFill>
            <a:srgbClr val="2E457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2029968"/>
            <a:ext cx="2542032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2029968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MONTHS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2596896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Dallas + Fort Worth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566160" y="3054096"/>
            <a:ext cx="22677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scoring. Add board AI layer. Formalize pricing. Two chapters, two proof points.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91072" y="2029968"/>
            <a:ext cx="2542032" cy="2487168"/>
          </a:xfrm>
          <a:prstGeom prst="rect">
            <a:avLst/>
          </a:prstGeom>
          <a:solidFill>
            <a:srgbClr val="2E4570"/>
          </a:solidFill>
          <a:ln w="12700">
            <a:solidFill>
              <a:srgbClr val="8B7F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91072" y="2029968"/>
            <a:ext cx="2542032" cy="457200"/>
          </a:xfrm>
          <a:prstGeom prst="rect">
            <a:avLst/>
          </a:prstGeom>
          <a:solidFill>
            <a:srgbClr val="8B7FE8"/>
          </a:solidFill>
          <a:ln w="12700">
            <a:solidFill>
              <a:srgbClr val="8B7F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8232" y="2029968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 MONTHS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28232" y="2596896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50–100 EO Chapters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28232" y="3054096"/>
            <a:ext cx="22677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SaaS. EO Global API. Multi-chapter benchmarking. Potential partnership or acquisition.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6634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cost: ~$15–18/month per chapter.  EO network: 180+ chapters globally. Each one has this exact problem.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5B8C1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5B8C1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2296" cy="3566160"/>
          </a:xfrm>
          <a:prstGeom prst="rect">
            <a:avLst/>
          </a:prstGeom>
          <a:solidFill>
            <a:srgbClr val="05B8C1"/>
          </a:solidFill>
          <a:ln w="12700">
            <a:solidFill>
              <a:srgbClr val="05B8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1887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Matters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49808" y="2029968"/>
            <a:ext cx="7772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member who leaves takes years of community with them.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churn is not inevitable — it’s preventable.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0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Trifecta exists so no one slips through the cracks on your watch.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" y="3639312"/>
            <a:ext cx="7772400" cy="36576"/>
          </a:xfrm>
          <a:prstGeom prst="rect">
            <a:avLst/>
          </a:prstGeom>
          <a:solidFill>
            <a:srgbClr val="2E4570"/>
          </a:solidFill>
          <a:ln w="12700">
            <a:solidFill>
              <a:srgbClr val="2E45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367588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05B8C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is the problem.</a:t>
            </a:r>
            <a:endParaRPr lang="en-US" sz="2000" dirty="0"/>
          </a:p>
          <a:p>
            <a:pPr indent="0" marL="0">
              <a:buNone/>
            </a:pPr>
            <a:r>
              <a:rPr lang="en-US" sz="2000" b="1" i="1" dirty="0">
                <a:solidFill>
                  <a:srgbClr val="05B8C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is the product.</a:t>
            </a:r>
            <a:endParaRPr lang="en-US" sz="2000" dirty="0"/>
          </a:p>
          <a:p>
            <a:pPr indent="0" marL="0">
              <a:buNone/>
            </a:pPr>
            <a:r>
              <a:rPr lang="en-US" sz="2000" b="1" i="1" dirty="0">
                <a:solidFill>
                  <a:srgbClr val="05B8C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is the moment.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Trifecta — Vision Deck</dc:title>
  <dc:subject>PptxGenJS Presentation</dc:subject>
  <dc:creator>Imran Karim</dc:creator>
  <cp:lastModifiedBy>Imran Karim</cp:lastModifiedBy>
  <cp:revision>1</cp:revision>
  <dcterms:created xsi:type="dcterms:W3CDTF">2026-05-26T02:13:31Z</dcterms:created>
  <dcterms:modified xsi:type="dcterms:W3CDTF">2026-05-26T02:13:31Z</dcterms:modified>
</cp:coreProperties>
</file>